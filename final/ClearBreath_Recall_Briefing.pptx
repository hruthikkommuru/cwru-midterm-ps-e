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2921770-8f52-12b0-673f-526111c04d9c}">
          <p14:sldIdLst>
            <p14:sldId id="256"/>
            <p14:sldId id="257"/>
          </p14:sldIdLst>
        </p14:section>
        <p14:section name="Findings" id="{5e138703-caa4-df00-cf09-5d7a29cc2c16}">
          <p14:sldIdLst>
            <p14:sldId id="258"/>
            <p14:sldId id="259"/>
          </p14:sldIdLst>
        </p14:section>
        <p14:section name="Response" id="{2a3c6c8c-25d8-3169-760e-2f6c21307777}">
          <p14:sldIdLst>
            <p14:sldId id="260"/>
            <p14:sldId id="261"/>
            <p14:sldId id="262"/>
          </p14:sldIdLst>
        </p14:section>
        <p14:section name="Close" id="{8b1630f5-3e43-89c4-0efc-227493b4eca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0:30. Open: CareWell must respond to a contamination finding in one cough-syrup batch. These are classroom drafts for review; nothing has been sent to customers or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recommendation: keep all messages on batch 4471, use the recall hotline 1-800-555-0199, and direct returns to any operating store. Mention that these are classroom drafts for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Product: ClearBreath Cough Syrup, oral liquid, 120 mL, batch 4471, expires February 28, 2029. Lab report released April 16, 2027 at 9:00 AM Eastern: retained samples contained an unintended microbial contaminant and failed specification. Symptoms: nausea, vomiting, diarrhea, fever; children under 12 higher risk. Batch 4470 passed and is not part of the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CareWell received 1,200 bottles: 311 warehouse-held, 889 distributed. Stores report 216 on hand; no returns recorded at report time. Rows coded 4471 total 609. S08 lists 64 as 4417; 75 received minus 11 on hand equals 64, supporting a likely typo. Keep 673 labeled as a reconciliation estimate (889 minus 216), not confirmed sales, until S08's transaction is verified. Eleven operating stores received the batch. S13 had historical sales but closed March 31; S05's recorded sales are batch 4470.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message: stop use and keep the bottle away from children. Return to any operating CareWell store for a full refund; no receipt required; bring the bottle if available. Anyone feeling unwell should contact a healthcare professional promptly, and severe symptoms need urgent medical help. Hotline 1-800-555-0199, daily 8 AM to 8 PM Eastern, beginning April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Service prepared a plain-language notice. Compliance prepared the Board letter with all required fields. Social Media prepared a short post under 280 characters and a longer version. The fact-check table confirms shared facts; intentional omissions in the short post are not contradictions. All three remain drafts.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controls: quarantine remaining stock; log returns; quarantine returned goods for quality-team collection; do not resell; keep a printed notice at each operating store counter. Response package deadline: April 18, 2027 at 9:00 AM Eastern. First status update: April 19 at noon Eastern. The inputs do not set a broader customer-outreach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decisions for leaders: (1) confirm the source transaction for S08's 64 units, otherwise keep the sales caveat in the Board letter; (2) set any additional customer outreach schedule beyond counter notices; (3) confirm the Board letter's proposed signatory is authorized. Close with the shared customer action: stop using batch 4471, return it to any operating CareWell store, and call 1-800-555-0199 with questions. Do not describe the classroom drafts as issued.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23944"/>
            <a:ext cx="9144000" cy="10195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206240" y="822960"/>
            <a:ext cx="4480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206240" y="274320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ClearBreath recall  |  classroom draft for review, not issued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206240" y="8229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CLEARBREATH</a:t>
            </a:r>
            <a:endParaRPr lang="en-US" sz="3800" dirty="0"/>
          </a:p>
          <a:p>
            <a:pPr algn="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RECALL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206240" y="2743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Five-minute briefing on batch 4471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Classroom team review, draft only</a:t>
            </a:r>
            <a:endParaRPr lang="en-US" sz="1600" dirty="0"/>
          </a:p>
        </p:txBody>
      </p:sp>
      <p:sp>
        <p:nvSpPr>
          <p:cNvPr id="4" name="Sparkle"/>
          <p:cNvSpPr/>
          <p:nvPr/>
        </p:nvSpPr>
        <p:spPr>
          <a:xfrm>
            <a:off x="411480" y="274320"/>
            <a:ext cx="274320" cy="274320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5" name="Sparkle"/>
          <p:cNvSpPr/>
          <p:nvPr/>
        </p:nvSpPr>
        <p:spPr>
          <a:xfrm>
            <a:off x="3383280" y="182880"/>
            <a:ext cx="201168" cy="201168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6" name="Sparkle"/>
          <p:cNvSpPr/>
          <p:nvPr/>
        </p:nvSpPr>
        <p:spPr>
          <a:xfrm>
            <a:off x="4754880" y="502920"/>
            <a:ext cx="182880" cy="182880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7" name="Sparkle"/>
          <p:cNvSpPr/>
          <p:nvPr/>
        </p:nvSpPr>
        <p:spPr>
          <a:xfrm>
            <a:off x="7955280" y="457200"/>
            <a:ext cx="219456" cy="219456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8" name="Sparkle"/>
          <p:cNvSpPr/>
          <p:nvPr/>
        </p:nvSpPr>
        <p:spPr>
          <a:xfrm>
            <a:off x="868680" y="1554480"/>
            <a:ext cx="182880" cy="182880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9" name="Sparkle"/>
          <p:cNvSpPr/>
          <p:nvPr/>
        </p:nvSpPr>
        <p:spPr>
          <a:xfrm>
            <a:off x="1965960" y="1005840"/>
            <a:ext cx="109728" cy="109728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0" name="Sparkle"/>
          <p:cNvSpPr/>
          <p:nvPr/>
        </p:nvSpPr>
        <p:spPr>
          <a:xfrm>
            <a:off x="7406640" y="3703320"/>
            <a:ext cx="182880" cy="182880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1" name="Sparkle"/>
          <p:cNvSpPr/>
          <p:nvPr/>
        </p:nvSpPr>
        <p:spPr>
          <a:xfrm>
            <a:off x="5394960" y="3291840"/>
            <a:ext cx="137160" cy="137160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2" name="Hair"/>
          <p:cNvSpPr/>
          <p:nvPr/>
        </p:nvSpPr>
        <p:spPr>
          <a:xfrm>
            <a:off x="2103120" y="1143000"/>
            <a:ext cx="731520" cy="1188720"/>
          </a:xfrm>
          <a:prstGeom prst="roundRect">
            <a:avLst>
              <a:gd name="adj" fmla="val 37500"/>
            </a:avLst>
          </a:prstGeom>
          <a:solidFill>
            <a:srgbClr val="5E3A24"/>
          </a:solidFill>
          <a:ln/>
        </p:spPr>
      </p:sp>
      <p:sp>
        <p:nvSpPr>
          <p:cNvPr id="13" name="Neck"/>
          <p:cNvSpPr/>
          <p:nvPr/>
        </p:nvSpPr>
        <p:spPr>
          <a:xfrm>
            <a:off x="2359152" y="1965960"/>
            <a:ext cx="219456" cy="274320"/>
          </a:xfrm>
          <a:prstGeom prst="rect">
            <a:avLst/>
          </a:prstGeom>
          <a:solidFill>
            <a:srgbClr val="F4A38C"/>
          </a:solidFill>
          <a:ln/>
        </p:spPr>
      </p:sp>
      <p:sp>
        <p:nvSpPr>
          <p:cNvPr id="14" name="Face"/>
          <p:cNvSpPr/>
          <p:nvPr/>
        </p:nvSpPr>
        <p:spPr>
          <a:xfrm>
            <a:off x="2194560" y="1325880"/>
            <a:ext cx="548640" cy="658368"/>
          </a:xfrm>
          <a:prstGeom prst="ellipse">
            <a:avLst/>
          </a:prstGeom>
          <a:solidFill>
            <a:srgbClr val="F4A38C"/>
          </a:solidFill>
          <a:ln/>
        </p:spPr>
      </p:sp>
      <p:sp>
        <p:nvSpPr>
          <p:cNvPr id="15" name="Fringe"/>
          <p:cNvSpPr/>
          <p:nvPr/>
        </p:nvSpPr>
        <p:spPr>
          <a:xfrm>
            <a:off x="2176272" y="1261872"/>
            <a:ext cx="585216" cy="201168"/>
          </a:xfrm>
          <a:prstGeom prst="roundRect">
            <a:avLst>
              <a:gd name="adj" fmla="val 45455"/>
            </a:avLst>
          </a:prstGeom>
          <a:solidFill>
            <a:srgbClr val="5E3A24"/>
          </a:solidFill>
          <a:ln/>
        </p:spPr>
      </p:sp>
      <p:sp>
        <p:nvSpPr>
          <p:cNvPr id="16" name="Eye left"/>
          <p:cNvSpPr/>
          <p:nvPr/>
        </p:nvSpPr>
        <p:spPr>
          <a:xfrm>
            <a:off x="2340864" y="1664208"/>
            <a:ext cx="45720" cy="457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Eye right"/>
          <p:cNvSpPr/>
          <p:nvPr/>
        </p:nvSpPr>
        <p:spPr>
          <a:xfrm>
            <a:off x="2542032" y="1664208"/>
            <a:ext cx="45720" cy="457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Lab coat"/>
          <p:cNvSpPr/>
          <p:nvPr/>
        </p:nvSpPr>
        <p:spPr>
          <a:xfrm>
            <a:off x="2011680" y="2194560"/>
            <a:ext cx="914400" cy="658368"/>
          </a:xfrm>
          <a:prstGeom prst="roundRect">
            <a:avLst>
              <a:gd name="adj" fmla="val 20833"/>
            </a:avLst>
          </a:prstGeom>
          <a:solidFill>
            <a:schemeClr val="bg1"/>
          </a:solidFill>
          <a:ln/>
        </p:spPr>
      </p:sp>
      <p:sp>
        <p:nvSpPr>
          <p:cNvPr id="19" name="Shirt"/>
          <p:cNvSpPr/>
          <p:nvPr/>
        </p:nvSpPr>
        <p:spPr>
          <a:xfrm>
            <a:off x="2286000" y="2212848"/>
            <a:ext cx="365760" cy="6400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Medicine bottle"/>
          <p:cNvSpPr/>
          <p:nvPr/>
        </p:nvSpPr>
        <p:spPr>
          <a:xfrm>
            <a:off x="2441448" y="2359152"/>
            <a:ext cx="91440" cy="1828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1" name="Monitor"/>
          <p:cNvSpPr/>
          <p:nvPr/>
        </p:nvSpPr>
        <p:spPr>
          <a:xfrm>
            <a:off x="1005840" y="1828800"/>
            <a:ext cx="9144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22" name="Monitor stand"/>
          <p:cNvSpPr/>
          <p:nvPr/>
        </p:nvSpPr>
        <p:spPr>
          <a:xfrm>
            <a:off x="1408176" y="2514600"/>
            <a:ext cx="109728" cy="228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Monitor base"/>
          <p:cNvSpPr/>
          <p:nvPr/>
        </p:nvSpPr>
        <p:spPr>
          <a:xfrm>
            <a:off x="1097280" y="2724912"/>
            <a:ext cx="731520" cy="9144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/>
        </p:spPr>
      </p:sp>
      <p:sp>
        <p:nvSpPr>
          <p:cNvPr id="24" name="Monitor circle"/>
          <p:cNvSpPr/>
          <p:nvPr/>
        </p:nvSpPr>
        <p:spPr>
          <a:xfrm>
            <a:off x="1307592" y="1984248"/>
            <a:ext cx="292608" cy="29260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Monitor plus"/>
          <p:cNvSpPr/>
          <p:nvPr/>
        </p:nvSpPr>
        <p:spPr>
          <a:xfrm>
            <a:off x="1377818" y="2054474"/>
            <a:ext cx="152156" cy="152156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26" name="Monitor plus blue"/>
          <p:cNvSpPr/>
          <p:nvPr/>
        </p:nvSpPr>
        <p:spPr>
          <a:xfrm>
            <a:off x="1380744" y="2057400"/>
            <a:ext cx="146304" cy="146304"/>
          </a:xfrm>
          <a:prstGeom prst="mathPlus">
            <a:avLst/>
          </a:prstGeom>
          <a:solidFill>
            <a:schemeClr val="accent2"/>
          </a:solidFill>
          <a:ln/>
        </p:spPr>
      </p:sp>
      <p:sp>
        <p:nvSpPr>
          <p:cNvPr id="27" name="Register"/>
          <p:cNvSpPr/>
          <p:nvPr/>
        </p:nvSpPr>
        <p:spPr>
          <a:xfrm>
            <a:off x="3154680" y="2578608"/>
            <a:ext cx="457200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/>
        </p:spPr>
      </p:sp>
      <p:sp>
        <p:nvSpPr>
          <p:cNvPr id="28" name="Register post"/>
          <p:cNvSpPr/>
          <p:nvPr/>
        </p:nvSpPr>
        <p:spPr>
          <a:xfrm>
            <a:off x="3355848" y="2286000"/>
            <a:ext cx="45720" cy="2926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Register display"/>
          <p:cNvSpPr/>
          <p:nvPr/>
        </p:nvSpPr>
        <p:spPr>
          <a:xfrm>
            <a:off x="3246120" y="2212848"/>
            <a:ext cx="274320" cy="9144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</p:sp>
      <p:sp>
        <p:nvSpPr>
          <p:cNvPr id="30" name="Counter top"/>
          <p:cNvSpPr/>
          <p:nvPr/>
        </p:nvSpPr>
        <p:spPr>
          <a:xfrm>
            <a:off x="457200" y="2816352"/>
            <a:ext cx="3611880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Counter front"/>
          <p:cNvSpPr/>
          <p:nvPr/>
        </p:nvSpPr>
        <p:spPr>
          <a:xfrm>
            <a:off x="594360" y="2962656"/>
            <a:ext cx="3337560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2" name="Counter circle"/>
          <p:cNvSpPr/>
          <p:nvPr/>
        </p:nvSpPr>
        <p:spPr>
          <a:xfrm>
            <a:off x="182880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Counter plus"/>
          <p:cNvSpPr/>
          <p:nvPr/>
        </p:nvSpPr>
        <p:spPr>
          <a:xfrm>
            <a:off x="1982419" y="3491179"/>
            <a:ext cx="332842" cy="332842"/>
          </a:xfrm>
          <a:prstGeom prst="mathPlus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RECOMMENDATION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0:00 - 0:30</a:t>
            </a:r>
            <a:endParaRPr lang="en-US" sz="1200" dirty="0"/>
          </a:p>
        </p:txBody>
      </p:sp>
      <p:sp>
        <p:nvSpPr>
          <p:cNvPr id="4" name="Purpose card"/>
          <p:cNvSpPr/>
          <p:nvPr/>
        </p:nvSpPr>
        <p:spPr>
          <a:xfrm>
            <a:off x="457200" y="1325880"/>
            <a:ext cx="356616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5" name="Purpose circle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rpose plus"/>
          <p:cNvSpPr/>
          <p:nvPr/>
        </p:nvSpPr>
        <p:spPr>
          <a:xfrm>
            <a:off x="852221" y="1720901"/>
            <a:ext cx="261518" cy="261518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WHY WE ARE HERE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203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CareWell must respond to a contamination finding in one cough-syrup batch.</a:t>
            </a:r>
            <a:endParaRPr lang="en-US" sz="2000" dirty="0"/>
          </a:p>
        </p:txBody>
      </p:sp>
      <p:sp>
        <p:nvSpPr>
          <p:cNvPr id="9" name="Recommendation 1"/>
          <p:cNvSpPr/>
          <p:nvPr/>
        </p:nvSpPr>
        <p:spPr>
          <a:xfrm>
            <a:off x="4251960" y="1325880"/>
            <a:ext cx="44348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0" name="Recommendation number 1"/>
          <p:cNvSpPr/>
          <p:nvPr/>
        </p:nvSpPr>
        <p:spPr>
          <a:xfrm>
            <a:off x="4434840" y="1508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45389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Keep every message centered on batch 4471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batch, one consistent story</a:t>
            </a:r>
            <a:endParaRPr lang="en-US" sz="1600" dirty="0"/>
          </a:p>
        </p:txBody>
      </p:sp>
      <p:sp>
        <p:nvSpPr>
          <p:cNvPr id="12" name="Recommendation 2"/>
          <p:cNvSpPr/>
          <p:nvPr/>
        </p:nvSpPr>
        <p:spPr>
          <a:xfrm>
            <a:off x="4251960" y="2286000"/>
            <a:ext cx="44348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3" name="Recommendation number 2"/>
          <p:cNvSpPr/>
          <p:nvPr/>
        </p:nvSpPr>
        <p:spPr>
          <a:xfrm>
            <a:off x="4434840" y="2468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Recall hotline: 1-800-555-0199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number in every message</a:t>
            </a:r>
            <a:endParaRPr lang="en-US" sz="1600" dirty="0"/>
          </a:p>
        </p:txBody>
      </p:sp>
      <p:sp>
        <p:nvSpPr>
          <p:cNvPr id="15" name="Recommendation 3"/>
          <p:cNvSpPr/>
          <p:nvPr/>
        </p:nvSpPr>
        <p:spPr>
          <a:xfrm>
            <a:off x="4251960" y="3246120"/>
            <a:ext cx="44348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6" name="Recommendation number 3"/>
          <p:cNvSpPr/>
          <p:nvPr/>
        </p:nvSpPr>
        <p:spPr>
          <a:xfrm>
            <a:off x="4434840" y="3429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37413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Returns go to any operating store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need to return to a specific location</a:t>
            </a:r>
            <a:endParaRPr lang="en-US" sz="1600" dirty="0"/>
          </a:p>
        </p:txBody>
      </p:sp>
      <p:sp>
        <p:nvSpPr>
          <p:cNvPr id="18" name="Draft status note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These materials are classroom drafts for review. Nothing has been sent to customers or the 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WAS FOUND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0:30 - 1:15</a:t>
            </a:r>
            <a:endParaRPr lang="en-US" sz="1200" dirty="0"/>
          </a:p>
        </p:txBody>
      </p:sp>
      <p:sp>
        <p:nvSpPr>
          <p:cNvPr id="4" name="Product card"/>
          <p:cNvSpPr/>
          <p:nvPr/>
        </p:nvSpPr>
        <p:spPr>
          <a:xfrm>
            <a:off x="457200" y="1325880"/>
            <a:ext cx="301752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5" name="Product circle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Product plus"/>
          <p:cNvSpPr/>
          <p:nvPr/>
        </p:nvSpPr>
        <p:spPr>
          <a:xfrm>
            <a:off x="852221" y="1693469"/>
            <a:ext cx="261518" cy="261518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AFFECTED PRODUCT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ClearBreath Cough Syrup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Oral liquid, 120 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Expires February 28, 2029</a:t>
            </a:r>
            <a:endParaRPr lang="en-US" sz="1400" dirty="0"/>
          </a:p>
        </p:txBody>
      </p:sp>
      <p:sp>
        <p:nvSpPr>
          <p:cNvPr id="10" name="Batch chip"/>
          <p:cNvSpPr/>
          <p:nvPr/>
        </p:nvSpPr>
        <p:spPr>
          <a:xfrm>
            <a:off x="731520" y="3931920"/>
            <a:ext cx="246888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BATCH 4471</a:t>
            </a:r>
            <a:endParaRPr lang="en-US" sz="1800" dirty="0"/>
          </a:p>
        </p:txBody>
      </p:sp>
      <p:sp>
        <p:nvSpPr>
          <p:cNvPr id="11" name="Finding card 1"/>
          <p:cNvSpPr/>
          <p:nvPr/>
        </p:nvSpPr>
        <p:spPr>
          <a:xfrm>
            <a:off x="3703320" y="1325880"/>
            <a:ext cx="49834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319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LAB REPORT: APRIL 16, 2027, 9:00 AM 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7556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Retained samples contained an unintended microbial contaminant and failed specification.</a:t>
            </a:r>
            <a:endParaRPr lang="en-US" sz="1600" dirty="0"/>
          </a:p>
        </p:txBody>
      </p:sp>
      <p:sp>
        <p:nvSpPr>
          <p:cNvPr id="14" name="Finding card 2"/>
          <p:cNvSpPr/>
          <p:nvPr/>
        </p:nvSpPr>
        <p:spPr>
          <a:xfrm>
            <a:off x="3703320" y="2560320"/>
            <a:ext cx="49834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93192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POSSIBLE SYMPTOMS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9900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Nausea, vomiting, diarrhea, or fever. Children under 12 are at higher risk.</a:t>
            </a:r>
            <a:endParaRPr lang="en-US" sz="1600" dirty="0"/>
          </a:p>
        </p:txBody>
      </p:sp>
      <p:sp>
        <p:nvSpPr>
          <p:cNvPr id="17" name="Batch 4470 card"/>
          <p:cNvSpPr/>
          <p:nvPr/>
        </p:nvSpPr>
        <p:spPr>
          <a:xfrm>
            <a:off x="3703320" y="3794760"/>
            <a:ext cx="49834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931920" y="3794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Batch 4470 passed testing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outside the recall.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DISTRIBUTION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1:15 - 2:00</a:t>
            </a:r>
            <a:endParaRPr lang="en-US" sz="1200" dirty="0"/>
          </a:p>
        </p:txBody>
      </p:sp>
      <p:sp>
        <p:nvSpPr>
          <p:cNvPr id="4" name="Stat 1"/>
          <p:cNvSpPr/>
          <p:nvPr/>
        </p:nvSpPr>
        <p:spPr>
          <a:xfrm>
            <a:off x="457200" y="1280160"/>
            <a:ext cx="19202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1,200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bottles received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2560320" y="1280160"/>
            <a:ext cx="19202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311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warehouse-held</a:t>
            </a:r>
            <a:endParaRPr lang="en-US" sz="1200" dirty="0"/>
          </a:p>
        </p:txBody>
      </p:sp>
      <p:sp>
        <p:nvSpPr>
          <p:cNvPr id="10" name="Stat 3"/>
          <p:cNvSpPr/>
          <p:nvPr/>
        </p:nvSpPr>
        <p:spPr>
          <a:xfrm>
            <a:off x="4663440" y="1280160"/>
            <a:ext cx="19202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889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distributed to stores</a:t>
            </a:r>
            <a:endParaRPr lang="en-US" sz="1200" dirty="0"/>
          </a:p>
        </p:txBody>
      </p:sp>
      <p:sp>
        <p:nvSpPr>
          <p:cNvPr id="13" name="Stat 4"/>
          <p:cNvSpPr/>
          <p:nvPr/>
        </p:nvSpPr>
        <p:spPr>
          <a:xfrm>
            <a:off x="6766560" y="1280160"/>
            <a:ext cx="192024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216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hand, no returns yet</a:t>
            </a:r>
            <a:endParaRPr lang="en-US" sz="1200" dirty="0"/>
          </a:p>
        </p:txBody>
      </p:sp>
      <p:sp>
        <p:nvSpPr>
          <p:cNvPr id="16" name="Reconciliation card"/>
          <p:cNvSpPr/>
          <p:nvPr/>
        </p:nvSpPr>
        <p:spPr>
          <a:xfrm>
            <a:off x="457200" y="2606040"/>
            <a:ext cx="521208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SALES RECONCILIATION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35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609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035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rows explicitly coded 4471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S08 lists 4417; 75 received minus 11 on hand is 64, a likely typo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096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673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096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Reconciliation estimate (889 minus 216), not confirmed sales until S08 is verified</a:t>
            </a:r>
            <a:endParaRPr lang="en-US" sz="1400" dirty="0"/>
          </a:p>
        </p:txBody>
      </p:sp>
      <p:sp>
        <p:nvSpPr>
          <p:cNvPr id="24" name="Stores card"/>
          <p:cNvSpPr/>
          <p:nvPr/>
        </p:nvSpPr>
        <p:spPr>
          <a:xfrm>
            <a:off x="5852160" y="2606040"/>
            <a:ext cx="2834640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080760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STORES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30175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 operating stores received the batch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S13: historical sales, closed March 31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S05: recorded sales are batch 4470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CUSTOMER RESPONSE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2:00 - 2:45</a:t>
            </a:r>
            <a:endParaRPr lang="en-US" sz="1200" dirty="0"/>
          </a:p>
        </p:txBody>
      </p:sp>
      <p:sp>
        <p:nvSpPr>
          <p:cNvPr id="4" name="Customer action 1"/>
          <p:cNvSpPr/>
          <p:nvPr/>
        </p:nvSpPr>
        <p:spPr>
          <a:xfrm>
            <a:off x="457200" y="132588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5" name="Action 1 circle"/>
          <p:cNvSpPr/>
          <p:nvPr/>
        </p:nvSpPr>
        <p:spPr>
          <a:xfrm>
            <a:off x="658368" y="158191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Action 1 plus"/>
          <p:cNvSpPr/>
          <p:nvPr/>
        </p:nvSpPr>
        <p:spPr>
          <a:xfrm>
            <a:off x="776874" y="1700418"/>
            <a:ext cx="256764" cy="25676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1417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Stop 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the bottle away from children.</a:t>
            </a:r>
            <a:endParaRPr lang="en-US" sz="1400" dirty="0"/>
          </a:p>
        </p:txBody>
      </p:sp>
      <p:sp>
        <p:nvSpPr>
          <p:cNvPr id="8" name="Customer action 2"/>
          <p:cNvSpPr/>
          <p:nvPr/>
        </p:nvSpPr>
        <p:spPr>
          <a:xfrm>
            <a:off x="457200" y="246888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9" name="Action 2 circle"/>
          <p:cNvSpPr/>
          <p:nvPr/>
        </p:nvSpPr>
        <p:spPr>
          <a:xfrm>
            <a:off x="658368" y="272491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ction 2 plus"/>
          <p:cNvSpPr/>
          <p:nvPr/>
        </p:nvSpPr>
        <p:spPr>
          <a:xfrm>
            <a:off x="776874" y="2843418"/>
            <a:ext cx="256764" cy="25676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2560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Return for a full refund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operating CareWell store. No receipt required. Bring the bottle if available.</a:t>
            </a:r>
            <a:endParaRPr lang="en-US" sz="1400" dirty="0"/>
          </a:p>
        </p:txBody>
      </p:sp>
      <p:sp>
        <p:nvSpPr>
          <p:cNvPr id="12" name="Customer action 3"/>
          <p:cNvSpPr/>
          <p:nvPr/>
        </p:nvSpPr>
        <p:spPr>
          <a:xfrm>
            <a:off x="457200" y="3611880"/>
            <a:ext cx="5120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3" name="Action 3 circle"/>
          <p:cNvSpPr/>
          <p:nvPr/>
        </p:nvSpPr>
        <p:spPr>
          <a:xfrm>
            <a:off x="658368" y="3867912"/>
            <a:ext cx="493776" cy="49377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Action 3 plus"/>
          <p:cNvSpPr/>
          <p:nvPr/>
        </p:nvSpPr>
        <p:spPr>
          <a:xfrm>
            <a:off x="776874" y="3986418"/>
            <a:ext cx="256764" cy="25676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703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Feeling unwell?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Contact a healthcare professional promptly. Severe symptoms need urgent medical help.</a:t>
            </a:r>
            <a:endParaRPr lang="en-US" sz="1400" dirty="0"/>
          </a:p>
        </p:txBody>
      </p:sp>
      <p:sp>
        <p:nvSpPr>
          <p:cNvPr id="16" name="Hotline card"/>
          <p:cNvSpPr/>
          <p:nvPr/>
        </p:nvSpPr>
        <p:spPr>
          <a:xfrm>
            <a:off x="580644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7" name="Hotline circle"/>
          <p:cNvSpPr/>
          <p:nvPr/>
        </p:nvSpPr>
        <p:spPr>
          <a:xfrm>
            <a:off x="6876288" y="1600200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Hotline plus"/>
          <p:cNvSpPr/>
          <p:nvPr/>
        </p:nvSpPr>
        <p:spPr>
          <a:xfrm>
            <a:off x="7040880" y="1764792"/>
            <a:ext cx="402336" cy="402336"/>
          </a:xfrm>
          <a:prstGeom prst="mathPlus">
            <a:avLst/>
          </a:prstGeom>
          <a:solidFill>
            <a:schemeClr val="accent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2560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RECALL HOTLINE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1-800-555-0199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474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Daily, 8 AM to 8 PM Eastern, beginning April 16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TEAM MESSAGES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2:45 - 3:35</a:t>
            </a:r>
            <a:endParaRPr lang="en-US" sz="1200" dirty="0"/>
          </a:p>
        </p:txBody>
      </p:sp>
      <p:sp>
        <p:nvSpPr>
          <p:cNvPr id="4" name="Team card 1"/>
          <p:cNvSpPr/>
          <p:nvPr/>
        </p:nvSpPr>
        <p:spPr>
          <a:xfrm>
            <a:off x="457200" y="128016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5" name="Team 1 circle"/>
          <p:cNvSpPr/>
          <p:nvPr/>
        </p:nvSpPr>
        <p:spPr>
          <a:xfrm>
            <a:off x="685800" y="14813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am 1 plus"/>
          <p:cNvSpPr/>
          <p:nvPr/>
        </p:nvSpPr>
        <p:spPr>
          <a:xfrm>
            <a:off x="795528" y="1591056"/>
            <a:ext cx="237744" cy="23774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Service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Plain-language notice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Identification, refund terms, medical direction, and the closed-store note.</a:t>
            </a:r>
            <a:endParaRPr lang="en-US" sz="1400" dirty="0"/>
          </a:p>
        </p:txBody>
      </p:sp>
      <p:sp>
        <p:nvSpPr>
          <p:cNvPr id="10" name="Team card 2"/>
          <p:cNvSpPr/>
          <p:nvPr/>
        </p:nvSpPr>
        <p:spPr>
          <a:xfrm>
            <a:off x="3246120" y="128016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1" name="Team 2 circle"/>
          <p:cNvSpPr/>
          <p:nvPr/>
        </p:nvSpPr>
        <p:spPr>
          <a:xfrm>
            <a:off x="3474720" y="14813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am 2 plus"/>
          <p:cNvSpPr/>
          <p:nvPr/>
        </p:nvSpPr>
        <p:spPr>
          <a:xfrm>
            <a:off x="3584448" y="1591056"/>
            <a:ext cx="237744" cy="23774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Compliance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Board letter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Company, product, risk, store, inventory, customer, hotline, and deadline fields.</a:t>
            </a:r>
            <a:endParaRPr lang="en-US" sz="1400" dirty="0"/>
          </a:p>
        </p:txBody>
      </p:sp>
      <p:sp>
        <p:nvSpPr>
          <p:cNvPr id="16" name="Team card 3"/>
          <p:cNvSpPr/>
          <p:nvPr/>
        </p:nvSpPr>
        <p:spPr>
          <a:xfrm>
            <a:off x="6035040" y="1280160"/>
            <a:ext cx="265176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7" name="Team 3 circle"/>
          <p:cNvSpPr/>
          <p:nvPr/>
        </p:nvSpPr>
        <p:spPr>
          <a:xfrm>
            <a:off x="6263640" y="14813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am 3 plus"/>
          <p:cNvSpPr/>
          <p:nvPr/>
        </p:nvSpPr>
        <p:spPr>
          <a:xfrm>
            <a:off x="6373368" y="1591056"/>
            <a:ext cx="237744" cy="23774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Social Media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Short and long posts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short post under 280 characters, plus a longer version.</a:t>
            </a:r>
            <a:endParaRPr lang="en-US" sz="1400" dirty="0"/>
          </a:p>
        </p:txBody>
      </p:sp>
      <p:sp>
        <p:nvSpPr>
          <p:cNvPr id="22" name="Fact-check card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23" name="Fact-check circle"/>
          <p:cNvSpPr/>
          <p:nvPr/>
        </p:nvSpPr>
        <p:spPr>
          <a:xfrm>
            <a:off x="658368" y="41148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Fact-check plus"/>
          <p:cNvSpPr/>
          <p:nvPr/>
        </p:nvSpPr>
        <p:spPr>
          <a:xfrm>
            <a:off x="758952" y="4215384"/>
            <a:ext cx="210312" cy="210312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80160" y="3977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Fact-check table confirms the shared facts.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Intentional omissions in the short post are not contradictions.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 &amp; TIMELINE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3:35 - 4:20</a:t>
            </a:r>
            <a:endParaRPr lang="en-US" sz="1200" dirty="0"/>
          </a:p>
        </p:txBody>
      </p:sp>
      <p:sp>
        <p:nvSpPr>
          <p:cNvPr id="4" name="Control 1"/>
          <p:cNvSpPr/>
          <p:nvPr/>
        </p:nvSpPr>
        <p:spPr>
          <a:xfrm>
            <a:off x="457200" y="1325880"/>
            <a:ext cx="4206240" cy="978408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5" name="Control 1 circle"/>
          <p:cNvSpPr/>
          <p:nvPr/>
        </p:nvSpPr>
        <p:spPr>
          <a:xfrm>
            <a:off x="658368" y="157276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Control 1 plus"/>
          <p:cNvSpPr/>
          <p:nvPr/>
        </p:nvSpPr>
        <p:spPr>
          <a:xfrm>
            <a:off x="772485" y="1686885"/>
            <a:ext cx="247254" cy="24725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13990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Quarantine remaining stock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 it from sale at every location.</a:t>
            </a:r>
            <a:endParaRPr lang="en-US" sz="1400" dirty="0"/>
          </a:p>
        </p:txBody>
      </p:sp>
      <p:sp>
        <p:nvSpPr>
          <p:cNvPr id="8" name="Control 2"/>
          <p:cNvSpPr/>
          <p:nvPr/>
        </p:nvSpPr>
        <p:spPr>
          <a:xfrm>
            <a:off x="457200" y="2441448"/>
            <a:ext cx="4206240" cy="978408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9" name="Control 2 circle"/>
          <p:cNvSpPr/>
          <p:nvPr/>
        </p:nvSpPr>
        <p:spPr>
          <a:xfrm>
            <a:off x="658368" y="268833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Control 2 plus"/>
          <p:cNvSpPr/>
          <p:nvPr/>
        </p:nvSpPr>
        <p:spPr>
          <a:xfrm>
            <a:off x="772485" y="2802453"/>
            <a:ext cx="247254" cy="24725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251460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 and quarantine returns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 returned goods for quality-team collection. Do not resell.</a:t>
            </a:r>
            <a:endParaRPr lang="en-US" sz="1400" dirty="0"/>
          </a:p>
        </p:txBody>
      </p:sp>
      <p:sp>
        <p:nvSpPr>
          <p:cNvPr id="12" name="Control 3"/>
          <p:cNvSpPr/>
          <p:nvPr/>
        </p:nvSpPr>
        <p:spPr>
          <a:xfrm>
            <a:off x="457200" y="3557016"/>
            <a:ext cx="4206240" cy="978408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3" name="Control 3 circle"/>
          <p:cNvSpPr/>
          <p:nvPr/>
        </p:nvSpPr>
        <p:spPr>
          <a:xfrm>
            <a:off x="658368" y="3803904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Control 3 plus"/>
          <p:cNvSpPr/>
          <p:nvPr/>
        </p:nvSpPr>
        <p:spPr>
          <a:xfrm>
            <a:off x="772485" y="3918021"/>
            <a:ext cx="247254" cy="247254"/>
          </a:xfrm>
          <a:prstGeom prst="mathPlus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363016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Printed notice at every counter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operating store keeps one at the counter.</a:t>
            </a:r>
            <a:endParaRPr lang="en-US" sz="1400" dirty="0"/>
          </a:p>
        </p:txBody>
      </p:sp>
      <p:sp>
        <p:nvSpPr>
          <p:cNvPr id="16" name="Timeline card"/>
          <p:cNvSpPr/>
          <p:nvPr/>
        </p:nvSpPr>
        <p:spPr>
          <a:xfrm>
            <a:off x="4892040" y="1325880"/>
            <a:ext cx="3794760" cy="333756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1663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TIMELINE</a:t>
            </a:r>
            <a:endParaRPr lang="en-US" sz="1200" dirty="0"/>
          </a:p>
        </p:txBody>
      </p:sp>
      <p:sp>
        <p:nvSpPr>
          <p:cNvPr id="18" name="Timeline line"/>
          <p:cNvSpPr/>
          <p:nvPr/>
        </p:nvSpPr>
        <p:spPr>
          <a:xfrm>
            <a:off x="5349240" y="2011680"/>
            <a:ext cx="0" cy="13258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9" name="Timeline node 1"/>
          <p:cNvSpPr/>
          <p:nvPr/>
        </p:nvSpPr>
        <p:spPr>
          <a:xfrm>
            <a:off x="5166360" y="18928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15000" y="1847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April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 report released; hotline opens</a:t>
            </a:r>
            <a:endParaRPr lang="en-US" sz="1400" dirty="0"/>
          </a:p>
        </p:txBody>
      </p:sp>
      <p:sp>
        <p:nvSpPr>
          <p:cNvPr id="21" name="Timeline node 2"/>
          <p:cNvSpPr/>
          <p:nvPr/>
        </p:nvSpPr>
        <p:spPr>
          <a:xfrm>
            <a:off x="5166360" y="2578608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715000" y="2532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April 18, 9:00 AM 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Response package deadline</a:t>
            </a:r>
            <a:endParaRPr lang="en-US" sz="1400" dirty="0"/>
          </a:p>
        </p:txBody>
      </p:sp>
      <p:sp>
        <p:nvSpPr>
          <p:cNvPr id="23" name="Timeline node 3"/>
          <p:cNvSpPr/>
          <p:nvPr/>
        </p:nvSpPr>
        <p:spPr>
          <a:xfrm>
            <a:off x="5166360" y="32644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15000" y="32186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April 19, noon 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status update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977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inputs do not set a broader customer-outreach schedule.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DECISIONS &amp; CLOSE</a:t>
            </a:r>
            <a:endParaRPr lang="en-US" sz="3600" dirty="0"/>
          </a:p>
        </p:txBody>
      </p:sp>
      <p:sp>
        <p:nvSpPr>
          <p:cNvPr id="3" name="Time pill"/>
          <p:cNvSpPr/>
          <p:nvPr/>
        </p:nvSpPr>
        <p:spPr>
          <a:xfrm>
            <a:off x="731520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4:20 - 5:00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LEADER DECISIONS</a:t>
            </a:r>
            <a:endParaRPr lang="en-US" sz="1200" dirty="0"/>
          </a:p>
        </p:txBody>
      </p:sp>
      <p:sp>
        <p:nvSpPr>
          <p:cNvPr id="5" name="Decision 1"/>
          <p:cNvSpPr/>
          <p:nvPr/>
        </p:nvSpPr>
        <p:spPr>
          <a:xfrm>
            <a:off x="457200" y="155448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6" name="Decision number 1"/>
          <p:cNvSpPr/>
          <p:nvPr/>
        </p:nvSpPr>
        <p:spPr>
          <a:xfrm>
            <a:off x="658368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2763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the source transaction for S08's 64 units; otherwise keep the sales caveat in the Board letter.</a:t>
            </a:r>
            <a:endParaRPr lang="en-US" sz="1400" dirty="0"/>
          </a:p>
        </p:txBody>
      </p:sp>
      <p:sp>
        <p:nvSpPr>
          <p:cNvPr id="8" name="Decision 2"/>
          <p:cNvSpPr/>
          <p:nvPr/>
        </p:nvSpPr>
        <p:spPr>
          <a:xfrm>
            <a:off x="457200" y="2578608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9" name="Decision number 2"/>
          <p:cNvSpPr/>
          <p:nvPr/>
        </p:nvSpPr>
        <p:spPr>
          <a:xfrm>
            <a:off x="658368" y="28072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5176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any additional customer outreach schedule beyond counter notices.</a:t>
            </a:r>
            <a:endParaRPr lang="en-US" sz="1400" dirty="0"/>
          </a:p>
        </p:txBody>
      </p:sp>
      <p:sp>
        <p:nvSpPr>
          <p:cNvPr id="11" name="Decision 3"/>
          <p:cNvSpPr/>
          <p:nvPr/>
        </p:nvSpPr>
        <p:spPr>
          <a:xfrm>
            <a:off x="457200" y="3602736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2" name="Decision number 3"/>
          <p:cNvSpPr/>
          <p:nvPr/>
        </p:nvSpPr>
        <p:spPr>
          <a:xfrm>
            <a:off x="658368" y="38313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7588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the Board letter's proposed signatory is authorized.</a:t>
            </a:r>
            <a:endParaRPr lang="en-US" sz="1400" dirty="0"/>
          </a:p>
        </p:txBody>
      </p:sp>
      <p:sp>
        <p:nvSpPr>
          <p:cNvPr id="14" name="Close card"/>
          <p:cNvSpPr/>
          <p:nvPr/>
        </p:nvSpPr>
        <p:spPr>
          <a:xfrm>
            <a:off x="5806440" y="1234440"/>
            <a:ext cx="2880360" cy="342900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C98B7E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8932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SHARED CUSTOMER ACTION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192024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Stop using batch 4471.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Return it to any operating CareWell store.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Call 1-800-555-0199 with questions.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4069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Classroom drafts, not issued.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rBreath Peach">
  <a:themeElements>
    <a:clrScheme name="ClearBreath Peach">
      <a:dk1>
        <a:srgbClr val="3D3D3D"/>
      </a:dk1>
      <a:lt1>
        <a:srgbClr val="FFFFFF"/>
      </a:lt1>
      <a:dk2>
        <a:srgbClr val="6B4F4A"/>
      </a:dk2>
      <a:lt2>
        <a:srgbClr val="FFDAD4"/>
      </a:lt2>
      <a:accent1>
        <a:srgbClr val="FFA894"/>
      </a:accent1>
      <a:accent2>
        <a:srgbClr val="4F7DF0"/>
      </a:accent2>
      <a:accent3>
        <a:srgbClr val="9DB8FF"/>
      </a:accent3>
      <a:accent4>
        <a:srgbClr val="FFC4B8"/>
      </a:accent4>
      <a:accent5>
        <a:srgbClr val="2E8B7A"/>
      </a:accent5>
      <a:accent6>
        <a:srgbClr val="E8705A"/>
      </a:accent6>
      <a:hlink>
        <a:srgbClr val="4F7DF0"/>
      </a:hlink>
      <a:folHlink>
        <a:srgbClr val="6B4F4A"/>
      </a:folHlink>
    </a:clrScheme>
    <a:fontScheme name="ClearBreath Pea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ClearBreath Recall - Five-Minute Briefing</dc:title>
  <dc:subject>PptxGenJS Presentation</dc:subject>
  <dc:creator>CareWell classroom team</dc:creator>
  <cp:lastModifiedBy>CareWell classroom team</cp:lastModifiedBy>
  <cp:revision>1</cp:revision>
  <dcterms:created xsi:type="dcterms:W3CDTF">2026-10-22T23:57:19Z</dcterms:created>
  <dcterms:modified xsi:type="dcterms:W3CDTF">2026-10-22T23:57:19Z</dcterms:modified>
</cp:coreProperties>
</file>